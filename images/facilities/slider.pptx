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E68F6-F0A7-4761-BDB7-2AE1F3F80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A08FF-F648-41DB-8076-D9A70A1A3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85606-E82B-41A0-BE7B-9EE75494D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5912E-AEB5-44B4-83E1-083D181626F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41552-5584-4E86-BBD2-0966E8889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3DED6-26FF-4BFC-B949-A7F9E4CB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D16F-3968-4F58-BF94-0B238E5CC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07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BEDBA-6F91-4069-9C9C-BC05A14F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D684A-E82E-427D-A69A-A39A96625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DF95A-A5CC-4937-9C8B-49FFEACBC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5912E-AEB5-44B4-83E1-083D181626F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4B33A-2DC5-4E07-A273-3EE88CE4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1F00-AAAF-4EE7-BCD0-2C1907E10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D16F-3968-4F58-BF94-0B238E5CC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14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B89E4-6A26-44E5-B31C-09813D67A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C7E5F-9840-4C18-B5EF-75F076DDC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2EB27-3E9A-49DC-8CEA-54F5D8DA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5912E-AEB5-44B4-83E1-083D181626F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92EC1-C4F3-4AFC-923D-7F14C298B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06E61-2F3F-4049-A01B-4BE9EA25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D16F-3968-4F58-BF94-0B238E5CC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280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79981-26D1-49BA-ABF8-AE2DA03BA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AC162-CEBA-4A8A-AA5E-6BF72C11F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B855A-6C78-409D-A906-77621A9EC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2EE1E-2039-46A1-B1CE-4FDCBA4FD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5912E-AEB5-44B4-83E1-083D181626F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5FDEE-3C88-4DBB-ABBF-1F635CBBF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FC24B-B362-471E-BFAE-AB8C9AFF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D16F-3968-4F58-BF94-0B238E5CC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062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ABB80-20C1-41F1-8C69-84003DE98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1D500-D643-498B-82C4-A9EB751B5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63418-A78C-4491-AC83-18630FBBE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0A5229-F552-4C09-B1B6-080BE32D36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0861D6-460F-4E68-B8AD-AD2C340F12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5BCC91-2A55-48A4-A7FD-14298E043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5912E-AEB5-44B4-83E1-083D181626F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423F00-23BF-4E0C-88E3-D6C7A9164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E1B5F2-E8BE-47F2-90D8-6DF1ECC5E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D16F-3968-4F58-BF94-0B238E5CC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09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B66C7-8351-4F4A-A516-DDA6729F6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758172-469E-4094-BC1B-A73B64863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5912E-AEB5-44B4-83E1-083D181626F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14C296-3DC6-42AF-ACE2-18DD82755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71885-679B-4ACF-8370-5C4574534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D16F-3968-4F58-BF94-0B238E5CC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165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633EB6-643B-42A7-90B7-D99693FEB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5912E-AEB5-44B4-83E1-083D181626F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E0FAFB-1782-40B3-BC0F-71B392F06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6D28C-9554-42EA-AEBC-2AE8FDA2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D16F-3968-4F58-BF94-0B238E5CC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51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D0B59-F365-4AD7-BF9E-66A256AFB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65E9-BFF9-45A3-BDE2-3E19A89A0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C5E0C-E677-404C-AF9B-1C76A4238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D2765-F56C-46C6-AB25-84F0FFAC2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5912E-AEB5-44B4-83E1-083D181626F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34BB4-7B8A-4C2E-80B8-A97133D24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05707-7DF7-4147-B985-1B04A88D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D16F-3968-4F58-BF94-0B238E5CC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47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CFD4-0050-46FF-8BD8-2DFF26558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878D2-69B4-47EE-AA6C-7B51B7954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B5D36-0FDD-4AAA-8265-D54DE0BF8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AA310-C98C-4431-B3C8-15C2B56DA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5912E-AEB5-44B4-83E1-083D181626F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22473-28FB-491F-90AE-4DC873BB8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4CF7D-F404-4748-AAA7-DF829D07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D16F-3968-4F58-BF94-0B238E5CC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856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EA2DC-5B15-4D64-9D25-691A8165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3C7A6D-4157-496E-A297-377465E82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9370F-660B-4EF5-A167-1245A223B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5912E-AEB5-44B4-83E1-083D181626F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04FB7-5FF8-4A75-9BE4-384FA4621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F4DFE-E488-452C-9CA9-38DE6D851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D16F-3968-4F58-BF94-0B238E5CC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634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230580-E500-4600-9360-6F5341174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BBF0C-65A3-4F61-9EB9-B2C5679E1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45BE0-90B9-4E41-8EAF-69FF92185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5912E-AEB5-44B4-83E1-083D181626F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8EF65-C0D4-4293-B9E5-E95F899F3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E9934-A113-4A42-A2BF-D2C41A0C3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D16F-3968-4F58-BF94-0B238E5CC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478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5E6A6D-448F-4A84-B27E-1F282EF63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4DA51-AF4A-4BB8-9A2B-974B2A58C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71BC1-9731-4EAF-BDD7-F1DD94C48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5912E-AEB5-44B4-83E1-083D181626F0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F5D15-9788-431D-8B41-4A0F6FBBE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CEA56-CFF1-490B-ADFD-427C1A9C5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2D16F-3968-4F58-BF94-0B238E5CC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0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3787EE1-5313-46ED-AE8F-1993B9AAE209}"/>
              </a:ext>
            </a:extLst>
          </p:cNvPr>
          <p:cNvGrpSpPr/>
          <p:nvPr/>
        </p:nvGrpSpPr>
        <p:grpSpPr>
          <a:xfrm>
            <a:off x="1837266" y="416983"/>
            <a:ext cx="6778759" cy="4255784"/>
            <a:chOff x="1837266" y="416983"/>
            <a:chExt cx="6778759" cy="4255784"/>
          </a:xfrm>
        </p:grpSpPr>
        <p:pic>
          <p:nvPicPr>
            <p:cNvPr id="1026" name="Picture 2" descr="Gas Chromatographs and Analytical Instruments Manufacturer &amp; Supplier">
              <a:extLst>
                <a:ext uri="{FF2B5EF4-FFF2-40B4-BE49-F238E27FC236}">
                  <a16:creationId xmlns:a16="http://schemas.microsoft.com/office/drawing/2014/main" id="{92F0DB9D-A549-41C7-8CB6-FBF78C2A68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52" t="-1086" r="31679" b="-416"/>
            <a:stretch/>
          </p:blipFill>
          <p:spPr bwMode="auto">
            <a:xfrm>
              <a:off x="4235449" y="425450"/>
              <a:ext cx="4380576" cy="4247317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032DBC7-E2CD-4FD9-A33D-1737CB44DF03}"/>
                </a:ext>
              </a:extLst>
            </p:cNvPr>
            <p:cNvSpPr txBox="1"/>
            <p:nvPr/>
          </p:nvSpPr>
          <p:spPr>
            <a:xfrm>
              <a:off x="1837266" y="416983"/>
              <a:ext cx="2398183" cy="424731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Yu Gothic UI Semilight" panose="020B0400000000000000" pitchFamily="34" charset="-128"/>
                  <a:ea typeface="Yu Gothic UI Semilight" panose="020B0400000000000000" pitchFamily="34" charset="-128"/>
                </a:rPr>
                <a:t>Facility: </a:t>
              </a:r>
            </a:p>
            <a:p>
              <a:r>
                <a:rPr lang="en-IN" dirty="0">
                  <a:solidFill>
                    <a:srgbClr val="00FF00"/>
                  </a:solidFill>
                  <a:latin typeface="Yu Gothic UI Semilight" panose="020B0400000000000000" pitchFamily="34" charset="-128"/>
                  <a:ea typeface="Yu Gothic UI Semilight" panose="020B0400000000000000" pitchFamily="34" charset="-128"/>
                </a:rPr>
                <a:t>AIMIL 5775 </a:t>
              </a:r>
            </a:p>
            <a:p>
              <a:r>
                <a:rPr lang="en-IN" dirty="0">
                  <a:solidFill>
                    <a:srgbClr val="00FF00"/>
                  </a:solidFill>
                  <a:latin typeface="Yu Gothic UI Semilight" panose="020B0400000000000000" pitchFamily="34" charset="-128"/>
                  <a:ea typeface="Yu Gothic UI Semilight" panose="020B0400000000000000" pitchFamily="34" charset="-128"/>
                </a:rPr>
                <a:t>Gas chromatograph with TCD &amp; FID in series </a:t>
              </a:r>
            </a:p>
            <a:p>
              <a:endParaRPr lang="en-IN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endParaRPr>
            </a:p>
            <a:p>
              <a:r>
                <a:rPr lang="en-IN" dirty="0">
                  <a:solidFill>
                    <a:schemeClr val="bg1"/>
                  </a:solidFill>
                  <a:latin typeface="Yu Gothic UI Semilight" panose="020B0400000000000000" pitchFamily="34" charset="-128"/>
                  <a:ea typeface="Yu Gothic UI Semilight" panose="020B0400000000000000" pitchFamily="34" charset="-128"/>
                </a:rPr>
                <a:t>Purpose: </a:t>
              </a:r>
            </a:p>
            <a:p>
              <a:r>
                <a:rPr lang="en-IN" dirty="0">
                  <a:solidFill>
                    <a:srgbClr val="00FF00"/>
                  </a:solidFill>
                  <a:latin typeface="Yu Gothic UI Semilight" panose="020B0400000000000000" pitchFamily="34" charset="-128"/>
                  <a:ea typeface="Yu Gothic UI Semilight" panose="020B0400000000000000" pitchFamily="34" charset="-128"/>
                </a:rPr>
                <a:t>Gas phase catalysis</a:t>
              </a:r>
            </a:p>
            <a:p>
              <a:r>
                <a:rPr lang="en-IN" dirty="0">
                  <a:solidFill>
                    <a:srgbClr val="00FF00"/>
                  </a:solidFill>
                  <a:latin typeface="Yu Gothic UI Semilight" panose="020B0400000000000000" pitchFamily="34" charset="-128"/>
                  <a:ea typeface="Yu Gothic UI Semilight" panose="020B0400000000000000" pitchFamily="34" charset="-128"/>
                </a:rPr>
                <a:t>(CO-oxidation)</a:t>
              </a:r>
            </a:p>
            <a:p>
              <a:endParaRPr lang="en-IN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endParaRPr>
            </a:p>
            <a:p>
              <a:r>
                <a:rPr lang="en-IN" dirty="0">
                  <a:solidFill>
                    <a:schemeClr val="bg1"/>
                  </a:solidFill>
                  <a:latin typeface="Yu Gothic UI Semilight" panose="020B0400000000000000" pitchFamily="34" charset="-128"/>
                  <a:ea typeface="Yu Gothic UI Semilight" panose="020B0400000000000000" pitchFamily="34" charset="-128"/>
                </a:rPr>
                <a:t>Capabilities:</a:t>
              </a:r>
            </a:p>
            <a:p>
              <a:r>
                <a:rPr lang="en-IN" dirty="0">
                  <a:solidFill>
                    <a:srgbClr val="00FF00"/>
                  </a:solidFill>
                  <a:latin typeface="Yu Gothic UI Semilight" panose="020B0400000000000000" pitchFamily="34" charset="-128"/>
                  <a:ea typeface="Yu Gothic UI Semilight" panose="020B0400000000000000" pitchFamily="34" charset="-128"/>
                </a:rPr>
                <a:t>Integrated with online reactor, also capable of offline analysis</a:t>
              </a:r>
            </a:p>
            <a:p>
              <a:r>
                <a:rPr lang="en-IN" dirty="0">
                  <a:solidFill>
                    <a:schemeClr val="bg1"/>
                  </a:solidFill>
                  <a:latin typeface="Yu Gothic UI Semilight" panose="020B0400000000000000" pitchFamily="34" charset="-128"/>
                  <a:ea typeface="Yu Gothic UI Semilight" panose="020B0400000000000000" pitchFamily="34" charset="-128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7450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3A1FE4-3485-476D-9AE0-80C4C9A481B9}"/>
              </a:ext>
            </a:extLst>
          </p:cNvPr>
          <p:cNvSpPr txBox="1"/>
          <p:nvPr/>
        </p:nvSpPr>
        <p:spPr>
          <a:xfrm>
            <a:off x="1837266" y="425450"/>
            <a:ext cx="2398183" cy="424731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Facility: </a:t>
            </a:r>
          </a:p>
          <a:p>
            <a:r>
              <a:rPr lang="en-IN" dirty="0">
                <a:solidFill>
                  <a:srgbClr val="00FF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Electrochemical workstation [CHI-708E]</a:t>
            </a:r>
          </a:p>
          <a:p>
            <a:endParaRPr lang="en-IN" dirty="0">
              <a:solidFill>
                <a:srgbClr val="00FF00"/>
              </a:solidFill>
              <a:latin typeface="Yu Gothic UI Semilight" panose="020B0400000000000000" pitchFamily="34" charset="-128"/>
              <a:ea typeface="Yu Gothic UI Semilight" panose="020B0400000000000000" pitchFamily="34" charset="-128"/>
            </a:endParaRPr>
          </a:p>
          <a:p>
            <a:r>
              <a:rPr lang="en-IN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Purpose: </a:t>
            </a:r>
          </a:p>
          <a:p>
            <a:r>
              <a:rPr lang="en-IN" dirty="0">
                <a:solidFill>
                  <a:srgbClr val="00FF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Electrochemical measurements</a:t>
            </a:r>
          </a:p>
          <a:p>
            <a:endParaRPr lang="en-IN" dirty="0">
              <a:solidFill>
                <a:schemeClr val="bg1"/>
              </a:solidFill>
              <a:latin typeface="Yu Gothic UI Semilight" panose="020B0400000000000000" pitchFamily="34" charset="-128"/>
              <a:ea typeface="Yu Gothic UI Semilight" panose="020B0400000000000000" pitchFamily="34" charset="-128"/>
            </a:endParaRPr>
          </a:p>
          <a:p>
            <a:r>
              <a:rPr lang="en-IN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Capabilities:</a:t>
            </a:r>
          </a:p>
          <a:p>
            <a:r>
              <a:rPr lang="en-IN" dirty="0">
                <a:solidFill>
                  <a:srgbClr val="00FF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Screening catalysts relevant to energy generation/storage</a:t>
            </a:r>
          </a:p>
          <a:p>
            <a:r>
              <a:rPr lang="en-IN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 </a:t>
            </a:r>
          </a:p>
          <a:p>
            <a:endParaRPr lang="en-IN" dirty="0">
              <a:solidFill>
                <a:schemeClr val="bg1"/>
              </a:solidFill>
              <a:latin typeface="Yu Gothic UI Semilight" panose="020B0400000000000000" pitchFamily="34" charset="-128"/>
              <a:ea typeface="Yu Gothic UI Semilight" panose="020B0400000000000000" pitchFamily="34" charset="-128"/>
            </a:endParaRPr>
          </a:p>
        </p:txBody>
      </p:sp>
      <p:pic>
        <p:nvPicPr>
          <p:cNvPr id="2052" name="Picture 4" descr="CHI660D CH Instruments (Electrochemical Workstation) | ArtisanTG™">
            <a:extLst>
              <a:ext uri="{FF2B5EF4-FFF2-40B4-BE49-F238E27FC236}">
                <a16:creationId xmlns:a16="http://schemas.microsoft.com/office/drawing/2014/main" id="{EC35911A-F9A6-45E5-BB56-A03AB05A8A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30" b="21422"/>
          <a:stretch/>
        </p:blipFill>
        <p:spPr bwMode="auto">
          <a:xfrm>
            <a:off x="4291541" y="1222172"/>
            <a:ext cx="4381200" cy="22068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648A49D-486C-4DBA-B385-43017355A187}"/>
              </a:ext>
            </a:extLst>
          </p:cNvPr>
          <p:cNvSpPr/>
          <p:nvPr/>
        </p:nvSpPr>
        <p:spPr>
          <a:xfrm>
            <a:off x="4235449" y="433918"/>
            <a:ext cx="4493384" cy="42388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422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CDE869-05EE-43C2-8A0F-1017154494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30" r="9" b="2136"/>
          <a:stretch/>
        </p:blipFill>
        <p:spPr>
          <a:xfrm>
            <a:off x="5909733" y="433918"/>
            <a:ext cx="2726267" cy="37559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D91989-A869-469D-AA3E-8CD810660A86}"/>
              </a:ext>
            </a:extLst>
          </p:cNvPr>
          <p:cNvSpPr txBox="1"/>
          <p:nvPr/>
        </p:nvSpPr>
        <p:spPr>
          <a:xfrm>
            <a:off x="1837266" y="425450"/>
            <a:ext cx="2398183" cy="424731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Facility: </a:t>
            </a:r>
          </a:p>
          <a:p>
            <a:r>
              <a:rPr lang="en-IN" dirty="0">
                <a:solidFill>
                  <a:srgbClr val="00FF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Rotating Disk Electrode &amp; Rotating Ring Disc Electrode</a:t>
            </a:r>
          </a:p>
          <a:p>
            <a:endParaRPr lang="en-IN" dirty="0">
              <a:solidFill>
                <a:srgbClr val="00FF00"/>
              </a:solidFill>
              <a:latin typeface="Yu Gothic UI Semilight" panose="020B0400000000000000" pitchFamily="34" charset="-128"/>
              <a:ea typeface="Yu Gothic UI Semilight" panose="020B0400000000000000" pitchFamily="34" charset="-128"/>
            </a:endParaRPr>
          </a:p>
          <a:p>
            <a:r>
              <a:rPr lang="en-IN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Purpose: </a:t>
            </a:r>
          </a:p>
          <a:p>
            <a:r>
              <a:rPr lang="en-IN" dirty="0">
                <a:solidFill>
                  <a:srgbClr val="00FF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Electrochemical measurements</a:t>
            </a:r>
          </a:p>
          <a:p>
            <a:endParaRPr lang="en-IN" dirty="0">
              <a:solidFill>
                <a:schemeClr val="bg1"/>
              </a:solidFill>
              <a:latin typeface="Yu Gothic UI Semilight" panose="020B0400000000000000" pitchFamily="34" charset="-128"/>
              <a:ea typeface="Yu Gothic UI Semilight" panose="020B0400000000000000" pitchFamily="34" charset="-128"/>
            </a:endParaRPr>
          </a:p>
          <a:p>
            <a:r>
              <a:rPr lang="en-IN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Capabilities:</a:t>
            </a:r>
          </a:p>
          <a:p>
            <a:r>
              <a:rPr lang="en-IN" dirty="0">
                <a:solidFill>
                  <a:srgbClr val="00FF00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Screening catalysts relevant to energy generation/storage</a:t>
            </a:r>
          </a:p>
          <a:p>
            <a:r>
              <a:rPr lang="en-IN" dirty="0">
                <a:solidFill>
                  <a:schemeClr val="bg1"/>
                </a:solidFill>
                <a:latin typeface="Yu Gothic UI Semilight" panose="020B0400000000000000" pitchFamily="34" charset="-128"/>
                <a:ea typeface="Yu Gothic UI Semilight" panose="020B0400000000000000" pitchFamily="34" charset="-128"/>
              </a:rPr>
              <a:t> </a:t>
            </a:r>
          </a:p>
          <a:p>
            <a:endParaRPr lang="en-IN" dirty="0">
              <a:solidFill>
                <a:schemeClr val="bg1"/>
              </a:solidFill>
              <a:latin typeface="Yu Gothic UI Semilight" panose="020B0400000000000000" pitchFamily="34" charset="-128"/>
              <a:ea typeface="Yu Gothic UI Semilight" panose="020B0400000000000000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D5265C-06DF-4AB9-BDC9-8E2D2BAD1354}"/>
              </a:ext>
            </a:extLst>
          </p:cNvPr>
          <p:cNvSpPr/>
          <p:nvPr/>
        </p:nvSpPr>
        <p:spPr>
          <a:xfrm>
            <a:off x="4235449" y="433918"/>
            <a:ext cx="4493384" cy="42388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792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880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80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Yu Gothic UI Semilight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Ahin Roy</dc:creator>
  <cp:lastModifiedBy>Ahin Roy</cp:lastModifiedBy>
  <cp:revision>8</cp:revision>
  <dcterms:created xsi:type="dcterms:W3CDTF">2025-05-25T16:46:31Z</dcterms:created>
  <dcterms:modified xsi:type="dcterms:W3CDTF">2025-05-26T11:16:21Z</dcterms:modified>
</cp:coreProperties>
</file>